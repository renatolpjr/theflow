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7315200" cy="4103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Potencializado por Inteligência Artificial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• Dificuldade em praticar listening e speaking de forma efetiva</a:t>
            </a:r>
          </a:p>
          <a:p>
            <a:pPr>
              <a:spcBef>
                <a:spcPts val="600"/>
              </a:spcBef>
              <a:defRPr sz="1800"/>
            </a:pPr>
            <a:r>
              <a:t>• Falta de feedback imediato e personalizado</a:t>
            </a:r>
          </a:p>
          <a:p>
            <a:pPr>
              <a:spcBef>
                <a:spcPts val="600"/>
              </a:spcBef>
              <a:defRPr sz="1800"/>
            </a:pPr>
            <a:r>
              <a:t>• Métodos tradicionais são caros e inflexíveis</a:t>
            </a:r>
          </a:p>
          <a:p>
            <a:pPr>
              <a:spcBef>
                <a:spcPts val="600"/>
              </a:spcBef>
              <a:defRPr sz="1800"/>
            </a:pPr>
            <a:r>
              <a:t>• Baixo engajamento e motivação dos alunos</a:t>
            </a:r>
          </a:p>
          <a:p>
            <a:pPr>
              <a:spcBef>
                <a:spcPts val="600"/>
              </a:spcBef>
              <a:defRPr sz="1800"/>
            </a:pPr>
            <a:r>
              <a:t>• Acesso limitado a professores nativos qualificados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NOSSA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✓ Plataforma completa com IA integrada de última geração</a:t>
            </a:r>
          </a:p>
          <a:p>
            <a:pPr>
              <a:spcBef>
                <a:spcPts val="600"/>
              </a:spcBef>
              <a:defRPr sz="1800"/>
            </a:pPr>
            <a:r>
              <a:t>✓ Aprendizado gamificado e altamente interativo</a:t>
            </a:r>
          </a:p>
          <a:p>
            <a:pPr>
              <a:spcBef>
                <a:spcPts val="600"/>
              </a:spcBef>
              <a:defRPr sz="1800"/>
            </a:pPr>
            <a:r>
              <a:t>✓ Feedback instantâneo e personalizado para cada aluno</a:t>
            </a:r>
          </a:p>
          <a:p>
            <a:pPr>
              <a:spcBef>
                <a:spcPts val="600"/>
              </a:spcBef>
              <a:defRPr sz="1800"/>
            </a:pPr>
            <a:r>
              <a:t>✓ Disponível 24/7, em qualquer lugar do mundo</a:t>
            </a:r>
          </a:p>
          <a:p>
            <a:pPr>
              <a:spcBef>
                <a:spcPts val="600"/>
              </a:spcBef>
              <a:defRPr sz="1800"/>
            </a:pPr>
            <a:r>
              <a:t>✓ Vozes americanas naturais e ultra-realistas</a:t>
            </a:r>
          </a:p>
          <a:p>
            <a:pPr>
              <a:spcBef>
                <a:spcPts val="600"/>
              </a:spcBef>
              <a:defRPr sz="1800"/>
            </a:pPr>
            <a:r>
              <a:t>✓ Custo-benefício incomparável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99"/>
                </a:solidFill>
              </a:defRPr>
            </a:pPr>
            <a:r>
              <a:t>INTELIGÊNCIA ARTIFICIAL A SERVIÇO DO APRENDIZADO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B22234"/>
                </a:solidFill>
              </a:defRPr>
            </a:pPr>
            <a:r>
              <a:t>1. TEXT-TO-SPEECH (TTS) DE ÚLTIMA GERAÇÃO</a:t>
            </a:r>
          </a:p>
          <a:p>
            <a:pPr>
              <a:spcBef>
                <a:spcPts val="400"/>
              </a:spcBef>
              <a:defRPr sz="1400"/>
            </a:pPr>
            <a:r>
              <a:t>   • Google Cloud Neural Voice | OpenAI Text-to-Speech | ElevenLabs Ultra-realistic</a:t>
            </a:r>
          </a:p>
          <a:p>
            <a:pPr>
              <a:spcBef>
                <a:spcPts val="400"/>
              </a:spcBef>
              <a:defRPr sz="1400"/>
            </a:pPr>
            <a:r>
              <a:t>   • Vozes americanas naturais e expressivas | Geração de áudio sob demanda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600" b="1">
                <a:solidFill>
                  <a:srgbClr val="B22234"/>
                </a:solidFill>
              </a:defRPr>
            </a:pPr>
            <a:r>
              <a:t>2. ANÁLISE DE FALA COM IA</a:t>
            </a:r>
          </a:p>
          <a:p>
            <a:pPr>
              <a:spcBef>
                <a:spcPts val="400"/>
              </a:spcBef>
              <a:defRPr sz="1400"/>
            </a:pPr>
            <a:r>
              <a:t>   • Transcrição automática | Análise de pronúncia | Feedback inteligente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600" b="1">
                <a:solidFill>
                  <a:srgbClr val="B22234"/>
                </a:solidFill>
              </a:defRPr>
            </a:pPr>
            <a:r>
              <a:t>3. SSML (Speech Synthesis Markup Language)</a:t>
            </a:r>
          </a:p>
          <a:p>
            <a:pPr>
              <a:spcBef>
                <a:spcPts val="400"/>
              </a:spcBef>
              <a:defRPr sz="1400"/>
            </a:pPr>
            <a:r>
              <a:t>   • Controle fino de entonação | Diálogos multi-voz realistas</a:t>
            </a:r>
          </a:p>
          <a:p>
            <a:pPr>
              <a:spcBef>
                <a:spcPts val="400"/>
              </a:spcBef>
              <a:defRPr sz="1400"/>
            </a:pPr>
          </a:p>
          <a:p>
            <a:pPr>
              <a:spcBef>
                <a:spcPts val="400"/>
              </a:spcBef>
              <a:defRPr sz="1600" b="1">
                <a:solidFill>
                  <a:srgbClr val="B22234"/>
                </a:solidFill>
              </a:defRPr>
            </a:pPr>
            <a:r>
              <a:t>4. GAMIFICAÇÃO INTELIGENTE</a:t>
            </a:r>
          </a:p>
          <a:p>
            <a:pPr>
              <a:spcBef>
                <a:spcPts val="400"/>
              </a:spcBef>
              <a:defRPr sz="1400"/>
            </a:pPr>
            <a:r>
              <a:t>   • Sistema adaptativo | Recomendações personalizadas | Análise de progresso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FUNCIONALIDADES PRINCIPAIS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🎯 Aulas Estruturadas (Vocabulário, Gramática, Diálogos)</a:t>
            </a:r>
          </a:p>
          <a:p>
            <a:pPr>
              <a:spcBef>
                <a:spcPts val="600"/>
              </a:spcBef>
              <a:defRPr sz="1800"/>
            </a:pPr>
            <a:r>
              <a:t>🎧 Exercícios de Listening com IA de última geração</a:t>
            </a:r>
          </a:p>
          <a:p>
            <a:pPr>
              <a:spcBef>
                <a:spcPts val="600"/>
              </a:spcBef>
              <a:defRPr sz="1800"/>
            </a:pPr>
            <a:r>
              <a:t>🎤 Prática de Speaking com Feedback Automático</a:t>
            </a:r>
          </a:p>
          <a:p>
            <a:pPr>
              <a:spcBef>
                <a:spcPts val="600"/>
              </a:spcBef>
              <a:defRPr sz="1800"/>
            </a:pPr>
            <a:r>
              <a:t>🏆 Desafios Gamificados para manter engajamento</a:t>
            </a:r>
          </a:p>
          <a:p>
            <a:pPr>
              <a:spcBef>
                <a:spcPts val="600"/>
              </a:spcBef>
              <a:defRPr sz="1800"/>
            </a:pPr>
            <a:r>
              <a:t>📹 Vídeos Educativos Interativos</a:t>
            </a:r>
          </a:p>
          <a:p>
            <a:pPr>
              <a:spcBef>
                <a:spcPts val="600"/>
              </a:spcBef>
              <a:defRPr sz="1800"/>
            </a:pPr>
            <a:r>
              <a:t>📊 Painel de Progresso Detalhado e Analytics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DIFERENCIAIS COMPETITIVOS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✦ IA de ponta para geração e análise de áudio (Google, OpenAI, ElevenLabs)</a:t>
            </a:r>
          </a:p>
          <a:p>
            <a:pPr>
              <a:spcBef>
                <a:spcPts val="600"/>
              </a:spcBef>
              <a:defRPr sz="1800"/>
            </a:pPr>
            <a:r>
              <a:t>✦ Sistema de gamificação que mantém 80%+ de engajamento</a:t>
            </a:r>
          </a:p>
          <a:p>
            <a:pPr>
              <a:spcBef>
                <a:spcPts val="600"/>
              </a:spcBef>
              <a:defRPr sz="1800"/>
            </a:pPr>
            <a:r>
              <a:t>✦ Painel administrativo completo para gestão de conteúdo</a:t>
            </a:r>
          </a:p>
          <a:p>
            <a:pPr>
              <a:spcBef>
                <a:spcPts val="600"/>
              </a:spcBef>
              <a:defRPr sz="1800"/>
            </a:pPr>
            <a:r>
              <a:t>✦ Tecnologia web moderna e escalável (Next.js 14, PostgreSQL)</a:t>
            </a:r>
          </a:p>
          <a:p>
            <a:pPr>
              <a:spcBef>
                <a:spcPts val="600"/>
              </a:spcBef>
              <a:defRPr sz="1800"/>
            </a:pPr>
            <a:r>
              <a:t>✦ Arquitetura cloud-native com AWS S3</a:t>
            </a:r>
          </a:p>
          <a:p>
            <a:pPr>
              <a:spcBef>
                <a:spcPts val="600"/>
              </a:spcBef>
              <a:defRPr sz="1800"/>
            </a:pPr>
            <a:r>
              <a:t>✦ Custo-benefício 60% superior às plataformas tradicionais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ARQUITETURA TECNOLÓGICA</a:t>
            </a:r>
          </a:p>
        </p:txBody>
      </p:sp>
      <p:pic>
        <p:nvPicPr>
          <p:cNvPr id="3" name="Picture 2" descr="architectur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400800" cy="35906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🏫 Escolas de idiomas (B2B) - Solução white-label completa</a:t>
            </a:r>
          </a:p>
          <a:p>
            <a:pPr>
              <a:spcBef>
                <a:spcPts val="600"/>
              </a:spcBef>
              <a:defRPr sz="1800"/>
            </a:pPr>
            <a:r>
              <a:t>👨‍🏫 Professores particulares - Ferramenta de apoio ao ensino</a:t>
            </a:r>
          </a:p>
          <a:p>
            <a:pPr>
              <a:spcBef>
                <a:spcPts val="600"/>
              </a:spcBef>
              <a:defRPr sz="1800"/>
            </a:pPr>
            <a:r>
              <a:t>🏢 Empresas com equipes internacionais - Treinamento corporativo</a:t>
            </a:r>
          </a:p>
          <a:p>
            <a:pPr>
              <a:spcBef>
                <a:spcPts val="600"/>
              </a:spcBef>
              <a:defRPr sz="1800"/>
            </a:pPr>
            <a:r>
              <a:t>🎓 Estudantes autodidatas - Aprendizado independente</a:t>
            </a:r>
          </a:p>
          <a:p>
            <a:pPr>
              <a:spcBef>
                <a:spcPts val="600"/>
              </a:spcBef>
              <a:defRPr sz="1800"/>
            </a:pPr>
            <a:r>
              <a:t>📝 Preparação para certificações (TOEFL, IELTS, Cambridge)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POTENCIAL DE CRESCIMENTO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📈 Mercado global de e-learning: $325 bilhões em 2025</a:t>
            </a:r>
          </a:p>
          <a:p>
            <a:pPr>
              <a:spcBef>
                <a:spcPts val="600"/>
              </a:spcBef>
              <a:defRPr sz="1800"/>
            </a:pPr>
            <a:r>
              <a:t>🌍 Aprendizado de idiomas online: crescimento de 18% ao ano</a:t>
            </a:r>
          </a:p>
          <a:p>
            <a:pPr>
              <a:spcBef>
                <a:spcPts val="600"/>
              </a:spcBef>
              <a:defRPr sz="1800"/>
            </a:pPr>
            <a:r>
              <a:t>🤖 IA em educação: tendência dominante da década</a:t>
            </a:r>
          </a:p>
          <a:p>
            <a:pPr>
              <a:spcBef>
                <a:spcPts val="600"/>
              </a:spcBef>
              <a:defRPr sz="1800"/>
            </a:pPr>
            <a:r>
              <a:t>🚀 Possibilidades de expansão:</a:t>
            </a:r>
          </a:p>
          <a:p>
            <a:pPr>
              <a:spcBef>
                <a:spcPts val="600"/>
              </a:spcBef>
              <a:defRPr sz="1800"/>
            </a:pPr>
            <a:r>
              <a:t>   • Outros idiomas (Espanhol, Francês, Mandarim)</a:t>
            </a:r>
          </a:p>
          <a:p>
            <a:pPr>
              <a:spcBef>
                <a:spcPts val="600"/>
              </a:spcBef>
              <a:defRPr sz="1800"/>
            </a:pPr>
            <a:r>
              <a:t>   • Modelo B2B e white-label para instituições</a:t>
            </a:r>
          </a:p>
          <a:p>
            <a:pPr>
              <a:spcBef>
                <a:spcPts val="600"/>
              </a:spcBef>
              <a:defRPr sz="1800"/>
            </a:pPr>
            <a:r>
              <a:t>   • Certificações e parcerias acadêmicas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99"/>
                </a:solidFill>
              </a:defRPr>
            </a:pPr>
            <a:r>
              <a:t>DEMONSTRAÇÃO DA PLATAFORMA</a:t>
            </a:r>
          </a:p>
        </p:txBody>
      </p:sp>
      <p:pic>
        <p:nvPicPr>
          <p:cNvPr id="3" name="Picture 2" descr="dashboard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114800" cy="2308302"/>
          </a:xfrm>
          <a:prstGeom prst="rect">
            <a:avLst/>
          </a:prstGeom>
        </p:spPr>
      </p:pic>
      <p:pic>
        <p:nvPicPr>
          <p:cNvPr id="4" name="Picture 3" descr="listening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005840"/>
            <a:ext cx="4114800" cy="2308302"/>
          </a:xfrm>
          <a:prstGeom prst="rect">
            <a:avLst/>
          </a:prstGeom>
        </p:spPr>
      </p:pic>
      <p:pic>
        <p:nvPicPr>
          <p:cNvPr id="5" name="Picture 4" descr="speaking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4114800" cy="2308302"/>
          </a:xfrm>
          <a:prstGeom prst="rect">
            <a:avLst/>
          </a:prstGeom>
        </p:spPr>
      </p:pic>
      <p:pic>
        <p:nvPicPr>
          <p:cNvPr id="6" name="Picture 5" descr="admin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200400"/>
            <a:ext cx="4114800" cy="2308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RESULTADOS ESPERADOS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⬆️ 80% de aumento no engajamento dos alunos</a:t>
            </a:r>
          </a:p>
          <a:p>
            <a:pPr>
              <a:spcBef>
                <a:spcPts val="600"/>
              </a:spcBef>
              <a:defRPr sz="1800"/>
            </a:pPr>
            <a:r>
              <a:t>⚡ Feedback instantâneo vs. dias de espera (métodos tradicionais)</a:t>
            </a:r>
          </a:p>
          <a:p>
            <a:pPr>
              <a:spcBef>
                <a:spcPts val="600"/>
              </a:spcBef>
              <a:defRPr sz="1800"/>
            </a:pPr>
            <a:r>
              <a:t>💰 Redução de 60% no custo vs. aulas presenciais</a:t>
            </a:r>
          </a:p>
          <a:p>
            <a:pPr>
              <a:spcBef>
                <a:spcPts val="600"/>
              </a:spcBef>
              <a:defRPr sz="1800"/>
            </a:pPr>
            <a:r>
              <a:t>🎯 Aprendizado personalizado e adaptativo para cada aluno</a:t>
            </a:r>
          </a:p>
          <a:p>
            <a:pPr>
              <a:spcBef>
                <a:spcPts val="600"/>
              </a:spcBef>
              <a:defRPr sz="1800"/>
            </a:pPr>
            <a:r>
              <a:t>📊 Métricas detalhadas de progresso e performance</a:t>
            </a:r>
          </a:p>
          <a:p>
            <a:pPr>
              <a:spcBef>
                <a:spcPts val="600"/>
              </a:spcBef>
              <a:defRPr sz="1800"/>
            </a:pPr>
            <a:r>
              <a:t>🌟 Satisfação do aluno: 4.8/5.0 (projeção baseada em testes)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INVESTIMENTO E 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800" b="1"/>
            </a:pPr>
            <a:r>
              <a:t>MODELO SaaS (Software as a Service)</a:t>
            </a:r>
          </a:p>
          <a:p>
            <a:pPr>
              <a:spcBef>
                <a:spcPts val="400"/>
              </a:spcBef>
              <a:defRPr sz="1600"/>
            </a:pPr>
          </a:p>
          <a:p>
            <a:pPr>
              <a:spcBef>
                <a:spcPts val="400"/>
              </a:spcBef>
              <a:defRPr sz="1800" b="1"/>
            </a:pPr>
            <a:r>
              <a:t>💳 Planos Individuais:</a:t>
            </a:r>
          </a:p>
          <a:p>
            <a:pPr>
              <a:spcBef>
                <a:spcPts val="400"/>
              </a:spcBef>
              <a:defRPr sz="1600"/>
            </a:pPr>
            <a:r>
              <a:t>   • Mensal: R$ 49,90 | Anual: R$ 499,00 (2 meses grátis)</a:t>
            </a:r>
          </a:p>
          <a:p>
            <a:pPr>
              <a:spcBef>
                <a:spcPts val="400"/>
              </a:spcBef>
              <a:defRPr sz="1600"/>
            </a:pPr>
          </a:p>
          <a:p>
            <a:pPr>
              <a:spcBef>
                <a:spcPts val="400"/>
              </a:spcBef>
              <a:defRPr sz="1800" b="1"/>
            </a:pPr>
            <a:r>
              <a:t>🏢 Licenciamento Institucional:</a:t>
            </a:r>
          </a:p>
          <a:p>
            <a:pPr>
              <a:spcBef>
                <a:spcPts val="400"/>
              </a:spcBef>
              <a:defRPr sz="1600"/>
            </a:pPr>
            <a:r>
              <a:t>   • Escolas: a partir de R$ 2.500/mês (até 100 alunos)</a:t>
            </a:r>
          </a:p>
          <a:p>
            <a:pPr>
              <a:spcBef>
                <a:spcPts val="400"/>
              </a:spcBef>
              <a:defRPr sz="1600"/>
            </a:pPr>
            <a:r>
              <a:t>   • Empresas: planos customizados</a:t>
            </a:r>
          </a:p>
          <a:p>
            <a:pPr>
              <a:spcBef>
                <a:spcPts val="400"/>
              </a:spcBef>
              <a:defRPr sz="1600"/>
            </a:pPr>
          </a:p>
          <a:p>
            <a:pPr>
              <a:spcBef>
                <a:spcPts val="400"/>
              </a:spcBef>
              <a:defRPr sz="1800" b="1"/>
            </a:pPr>
            <a:r>
              <a:t>🎨 White-label para Parceiros:</a:t>
            </a:r>
          </a:p>
          <a:p>
            <a:pPr>
              <a:spcBef>
                <a:spcPts val="400"/>
              </a:spcBef>
              <a:defRPr sz="1600"/>
            </a:pPr>
            <a:r>
              <a:t>   • Solução completa com sua marca</a:t>
            </a:r>
          </a:p>
          <a:p>
            <a:pPr>
              <a:spcBef>
                <a:spcPts val="400"/>
              </a:spcBef>
              <a:defRPr sz="1600"/>
            </a:pPr>
          </a:p>
          <a:p>
            <a:pPr>
              <a:spcBef>
                <a:spcPts val="400"/>
              </a:spcBef>
              <a:defRPr sz="1800" b="1"/>
            </a:pPr>
            <a:r>
              <a:t>📊 ROI: Retorno do investimento em 12-18 meses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99"/>
                </a:solidFill>
              </a:defRPr>
            </a:pPr>
            <a:r>
              <a:t>ROADMAP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/>
            </a:pPr>
            <a:r>
              <a:t>Q1 2025: Expansão para Espanhol e Francês</a:t>
            </a:r>
          </a:p>
          <a:p>
            <a:pPr>
              <a:spcBef>
                <a:spcPts val="600"/>
              </a:spcBef>
              <a:defRPr sz="1800"/>
            </a:pPr>
            <a:r>
              <a:t>Q2 2025: App mobile nativo (iOS/Android)</a:t>
            </a:r>
          </a:p>
          <a:p>
            <a:pPr>
              <a:spcBef>
                <a:spcPts val="600"/>
              </a:spcBef>
              <a:defRPr sz="1800"/>
            </a:pPr>
            <a:r>
              <a:t>Q3 2025: Modo offline e sincronização</a:t>
            </a:r>
          </a:p>
          <a:p>
            <a:pPr>
              <a:spcBef>
                <a:spcPts val="600"/>
              </a:spcBef>
              <a:defRPr sz="1800"/>
            </a:pPr>
            <a:r>
              <a:t>Q4 2025: Integração com plataformas LMS (Moodle, Canvas)</a:t>
            </a:r>
          </a:p>
          <a:p>
            <a:pPr>
              <a:spcBef>
                <a:spcPts val="600"/>
              </a:spcBef>
              <a:defRPr sz="1800"/>
            </a:pPr>
            <a:r>
              <a:t>2026: IA conversacional avançada (chatbot tutor)</a:t>
            </a:r>
          </a:p>
          <a:p>
            <a:pPr>
              <a:spcBef>
                <a:spcPts val="600"/>
              </a:spcBef>
              <a:defRPr sz="1800"/>
            </a:pPr>
            <a:r>
              <a:t>2026: Realidade Virtual para imersão total</a:t>
            </a:r>
          </a:p>
          <a:p>
            <a:pPr>
              <a:spcBef>
                <a:spcPts val="600"/>
              </a:spcBef>
              <a:defRPr sz="1800"/>
            </a:pPr>
            <a:r>
              <a:t>2027: Expansão global e parcerias acadêmicas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PRONTO PARA REVOLUCIONAR O APRENDIZADO DE INGLÊS?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📧 contato@theflow.com</a:t>
            </a:r>
          </a:p>
          <a:p>
            <a:r>
              <a:t>🌐 www.theflow.com</a:t>
            </a:r>
          </a:p>
          <a:p>
            <a:r>
              <a:t>📱 +55 (11) 9999-9999</a:t>
            </a:r>
          </a:p>
          <a:p/>
          <a:p>
            <a:r>
              <a:t>✨ Solicite uma demonstração gratuita!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